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40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04688" y="0"/>
            <a:ext cx="10973" cy="5143500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" name="Image 0" descr="Diagram of an AI operations agent connected to observe, plan, act, learn, guard and memory func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773789"/>
            <a:ext cx="3383280" cy="3595922"/>
          </a:xfrm>
          <a:prstGeom prst="rect">
            <a:avLst/>
          </a:prstGeom>
        </p:spPr>
      </p:pic>
      <p:sp>
        <p:nvSpPr>
          <p:cNvPr id="4" name="Left edg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2"/>
          <p:cNvSpPr/>
          <p:nvPr/>
        </p:nvSpPr>
        <p:spPr>
          <a:xfrm>
            <a:off x="685800" y="1207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 |  OPERATIONS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151790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F2A4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OpsAgent</a:t>
            </a:r>
            <a:endParaRPr lang="en-US" sz="5400" dirty="0"/>
          </a:p>
        </p:txBody>
      </p:sp>
      <p:sp>
        <p:nvSpPr>
          <p:cNvPr id="7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450592"/>
            <a:ext cx="1005840" cy="36576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5"/>
          <p:cNvSpPr/>
          <p:nvPr/>
        </p:nvSpPr>
        <p:spPr>
          <a:xfrm>
            <a:off x="685800" y="267004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a real operational use case — an autonomous agent that watches, decides and acts across day-to-day operations, with people in control.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71246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4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4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workflow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4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stack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46177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briefing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Accent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94560" cy="82296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IS BUILT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F2A4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OpsAgent architecture</a:t>
            </a:r>
            <a:endParaRPr lang="en-US" sz="2700" dirty="0"/>
          </a:p>
        </p:txBody>
      </p:sp>
      <p:sp>
        <p:nvSpPr>
          <p:cNvPr id="6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640080" cy="32004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orchestrating agent plans the work and calls each specialised sub-agent on demand — not in a fixed sequence.</a:t>
            </a:r>
            <a:endParaRPr lang="en-US" sz="1150" dirty="0"/>
          </a:p>
        </p:txBody>
      </p:sp>
      <p:sp>
        <p:nvSpPr>
          <p:cNvPr id="8" name="Orchestrato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7440" y="1481328"/>
            <a:ext cx="4389120" cy="640080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Orchestrator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7440" y="1481328"/>
            <a:ext cx="4389120" cy="45720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Icon back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78608" y="16276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1" name="Image 0" descr="Robot head icon representing the main orchestrating ag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740" y="1650492"/>
            <a:ext cx="279784" cy="338328"/>
          </a:xfrm>
          <a:prstGeom prst="ellipse">
            <a:avLst/>
          </a:prstGeom>
        </p:spPr>
      </p:pic>
      <p:sp>
        <p:nvSpPr>
          <p:cNvPr id="12" name="Text 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08960" y="16276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ORCHESTRATING AGENT</a:t>
            </a:r>
            <a:endParaRPr lang="en-US" sz="1000" dirty="0"/>
          </a:p>
        </p:txBody>
      </p:sp>
      <p:sp>
        <p:nvSpPr>
          <p:cNvPr id="13" name="Text 1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08960" y="18562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B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 the work and calls the sub-agents it needs</a:t>
            </a:r>
            <a:endParaRPr lang="en-US" sz="950" dirty="0"/>
          </a:p>
        </p:txBody>
      </p:sp>
      <p:sp>
        <p:nvSpPr>
          <p:cNvPr id="14" name="Connector s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58284" y="2121408"/>
            <a:ext cx="27432" cy="164592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Connector bu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43584" y="2286000"/>
            <a:ext cx="6656832" cy="27432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Connector s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9868" y="2286000"/>
            <a:ext cx="27432" cy="109728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ub-ag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95728"/>
            <a:ext cx="148132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27000" dist="25400" dir="5400000" algn="bl" rotWithShape="0">
              <a:srgbClr val="0F2A4D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95728"/>
            <a:ext cx="1481328" cy="45720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9" name="Image 1" descr="Envelope with document icon representing the extraction ag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69" y="2578608"/>
            <a:ext cx="300038" cy="320040"/>
          </a:xfrm>
          <a:prstGeom prst="rect">
            <a:avLst/>
          </a:prstGeom>
        </p:spPr>
      </p:pic>
      <p:sp>
        <p:nvSpPr>
          <p:cNvPr id="20" name="Text 1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58368" y="2926080"/>
            <a:ext cx="1225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 Agent</a:t>
            </a:r>
            <a:endParaRPr lang="en-US" sz="1050" dirty="0"/>
          </a:p>
        </p:txBody>
      </p:sp>
      <p:sp>
        <p:nvSpPr>
          <p:cNvPr id="21" name="Card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456432"/>
            <a:ext cx="1170432" cy="9144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1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58368" y="35112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750" dirty="0"/>
          </a:p>
        </p:txBody>
      </p:sp>
      <p:sp>
        <p:nvSpPr>
          <p:cNvPr id="23" name="Text 1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58368" y="3675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Customer's raw email</a:t>
            </a:r>
            <a:endParaRPr lang="en-US" sz="850" dirty="0"/>
          </a:p>
        </p:txBody>
      </p:sp>
      <p:sp>
        <p:nvSpPr>
          <p:cNvPr id="24" name="Text 2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58368" y="40782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658368" y="42428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data: items, quantities, dates, durations</a:t>
            </a:r>
            <a:endParaRPr lang="en-US" sz="850" dirty="0"/>
          </a:p>
        </p:txBody>
      </p:sp>
      <p:sp>
        <p:nvSpPr>
          <p:cNvPr id="26" name="Connector s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98648" y="2286000"/>
            <a:ext cx="27432" cy="109728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ub-ag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71700" y="2395728"/>
            <a:ext cx="148132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27000" dist="25400" dir="5400000" algn="bl" rotWithShape="0">
              <a:srgbClr val="0F2A4D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71700" y="2395728"/>
            <a:ext cx="1481328" cy="45720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9" name="Image 2" descr="Storage box and price tag icon representing the inventory and pricing age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7148" y="2616942"/>
            <a:ext cx="320040" cy="243371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327148" y="2926080"/>
            <a:ext cx="1225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&amp; Pricing Agent</a:t>
            </a:r>
            <a:endParaRPr lang="en-US" sz="1050" dirty="0"/>
          </a:p>
        </p:txBody>
      </p:sp>
      <p:sp>
        <p:nvSpPr>
          <p:cNvPr id="31" name="Card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7148" y="3456432"/>
            <a:ext cx="1170432" cy="9144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27148" y="35112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750" dirty="0"/>
          </a:p>
        </p:txBody>
      </p:sp>
      <p:sp>
        <p:nvSpPr>
          <p:cNvPr id="33" name="Text 2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27148" y="3675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order data</a:t>
            </a:r>
            <a:endParaRPr lang="en-US" sz="850" dirty="0"/>
          </a:p>
        </p:txBody>
      </p:sp>
      <p:sp>
        <p:nvSpPr>
          <p:cNvPr id="34" name="Text 2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27148" y="40782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2327148" y="42428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availability and base pricing from Dataverse</a:t>
            </a:r>
            <a:endParaRPr lang="en-US" sz="850" dirty="0"/>
          </a:p>
        </p:txBody>
      </p:sp>
      <p:sp>
        <p:nvSpPr>
          <p:cNvPr id="36" name="Connector s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67428" y="2286000"/>
            <a:ext cx="27432" cy="109728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Sub-ag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2395728"/>
            <a:ext cx="148132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27000" dist="25400" dir="5400000" algn="bl" rotWithShape="0">
              <a:srgbClr val="0F2A4D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2395728"/>
            <a:ext cx="1481328" cy="45720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9" name="Image 3" descr="Shield with checkmark icon representing the governance and request age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4339" y="2578608"/>
            <a:ext cx="303218" cy="320040"/>
          </a:xfrm>
          <a:prstGeom prst="rect">
            <a:avLst/>
          </a:prstGeom>
        </p:spPr>
      </p:pic>
      <p:sp>
        <p:nvSpPr>
          <p:cNvPr id="40" name="Text 3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95928" y="2926080"/>
            <a:ext cx="1225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&amp; Request Agent</a:t>
            </a:r>
            <a:endParaRPr lang="en-US" sz="1050" dirty="0"/>
          </a:p>
        </p:txBody>
      </p:sp>
      <p:sp>
        <p:nvSpPr>
          <p:cNvPr id="41" name="Card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95928" y="3456432"/>
            <a:ext cx="1170432" cy="9144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36"/>
          <p:cNvSpPr/>
          <p:nvPr/>
        </p:nvSpPr>
        <p:spPr>
          <a:xfrm>
            <a:off x="3995928" y="35112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3995928" y="3675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inquiry or pricing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3995928" y="40782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750" dirty="0"/>
          </a:p>
        </p:txBody>
      </p:sp>
      <p:sp>
        <p:nvSpPr>
          <p:cNvPr id="45" name="Text 3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95928" y="42428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review and approval decision</a:t>
            </a:r>
            <a:endParaRPr lang="en-US" sz="850" dirty="0"/>
          </a:p>
        </p:txBody>
      </p:sp>
      <p:sp>
        <p:nvSpPr>
          <p:cNvPr id="46" name="Connector s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6208" y="2286000"/>
            <a:ext cx="27432" cy="109728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Sub-ag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09260" y="2395728"/>
            <a:ext cx="148132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27000" dist="25400" dir="5400000" algn="bl" rotWithShape="0">
              <a:srgbClr val="0F2A4D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09260" y="2395728"/>
            <a:ext cx="1481328" cy="45720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9" name="Image 4" descr="Stamped document icon representing the document generation agen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6339" y="2578608"/>
            <a:ext cx="236778" cy="32004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5664708" y="2926080"/>
            <a:ext cx="1225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Generation Agent</a:t>
            </a:r>
            <a:endParaRPr lang="en-US" sz="1050" dirty="0"/>
          </a:p>
        </p:txBody>
      </p:sp>
      <p:sp>
        <p:nvSpPr>
          <p:cNvPr id="51" name="Card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4708" y="3456432"/>
            <a:ext cx="1170432" cy="9144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45"/>
          <p:cNvSpPr/>
          <p:nvPr/>
        </p:nvSpPr>
        <p:spPr>
          <a:xfrm>
            <a:off x="5664708" y="35112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750" dirty="0"/>
          </a:p>
        </p:txBody>
      </p:sp>
      <p:sp>
        <p:nvSpPr>
          <p:cNvPr id="53" name="Text 46"/>
          <p:cNvSpPr/>
          <p:nvPr/>
        </p:nvSpPr>
        <p:spPr>
          <a:xfrm>
            <a:off x="5664708" y="3675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pricing</a:t>
            </a:r>
            <a:endParaRPr lang="en-US" sz="850" dirty="0"/>
          </a:p>
        </p:txBody>
      </p:sp>
      <p:sp>
        <p:nvSpPr>
          <p:cNvPr id="54" name="Text 47"/>
          <p:cNvSpPr/>
          <p:nvPr/>
        </p:nvSpPr>
        <p:spPr>
          <a:xfrm>
            <a:off x="5664708" y="40782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750" dirty="0"/>
          </a:p>
        </p:txBody>
      </p:sp>
      <p:sp>
        <p:nvSpPr>
          <p:cNvPr id="55" name="Text 48"/>
          <p:cNvSpPr/>
          <p:nvPr/>
        </p:nvSpPr>
        <p:spPr>
          <a:xfrm>
            <a:off x="5664708" y="42428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quotation document</a:t>
            </a:r>
            <a:endParaRPr lang="en-US" sz="850" dirty="0"/>
          </a:p>
        </p:txBody>
      </p:sp>
      <p:sp>
        <p:nvSpPr>
          <p:cNvPr id="56" name="Connector s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04988" y="2286000"/>
            <a:ext cx="27432" cy="109728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7" name="Sub-ag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78040" y="2395728"/>
            <a:ext cx="148132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27000" dist="25400" dir="5400000" algn="bl" rotWithShape="0">
              <a:srgbClr val="0F2A4D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78040" y="2395728"/>
            <a:ext cx="1481328" cy="45720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59" name="Image 5" descr="Paper plane and speech bubble icon representing the communication agen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3488" y="2583047"/>
            <a:ext cx="320040" cy="311162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7333488" y="2926080"/>
            <a:ext cx="1225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Agent</a:t>
            </a:r>
            <a:endParaRPr lang="en-US" sz="1050" dirty="0"/>
          </a:p>
        </p:txBody>
      </p:sp>
      <p:sp>
        <p:nvSpPr>
          <p:cNvPr id="61" name="Card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3488" y="3456432"/>
            <a:ext cx="1170432" cy="9144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54"/>
          <p:cNvSpPr/>
          <p:nvPr/>
        </p:nvSpPr>
        <p:spPr>
          <a:xfrm>
            <a:off x="7333488" y="35112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750" dirty="0"/>
          </a:p>
        </p:txBody>
      </p:sp>
      <p:sp>
        <p:nvSpPr>
          <p:cNvPr id="63" name="Text 55"/>
          <p:cNvSpPr/>
          <p:nvPr/>
        </p:nvSpPr>
        <p:spPr>
          <a:xfrm>
            <a:off x="7333488" y="3675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 or unavailability result</a:t>
            </a:r>
            <a:endParaRPr lang="en-US" sz="850" dirty="0"/>
          </a:p>
        </p:txBody>
      </p:sp>
      <p:sp>
        <p:nvSpPr>
          <p:cNvPr id="64" name="Text 56"/>
          <p:cNvSpPr/>
          <p:nvPr/>
        </p:nvSpPr>
        <p:spPr>
          <a:xfrm>
            <a:off x="7333488" y="40782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750" dirty="0"/>
          </a:p>
        </p:txBody>
      </p:sp>
      <p:sp>
        <p:nvSpPr>
          <p:cNvPr id="65" name="Text 57"/>
          <p:cNvSpPr/>
          <p:nvPr/>
        </p:nvSpPr>
        <p:spPr>
          <a:xfrm>
            <a:off x="7333488" y="42428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email for Sales to review and send</a:t>
            </a:r>
            <a:endParaRPr lang="en-US" sz="850" dirty="0"/>
          </a:p>
        </p:txBody>
      </p:sp>
      <p:sp>
        <p:nvSpPr>
          <p:cNvPr id="66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7" name="Text 59"/>
          <p:cNvSpPr/>
          <p:nvPr/>
        </p:nvSpPr>
        <p:spPr>
          <a:xfrm>
            <a:off x="502920" y="47914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OpsAgent — Agentic AI in a real use case</a:t>
            </a:r>
            <a:endParaRPr lang="en-US" sz="900" dirty="0"/>
          </a:p>
        </p:txBody>
      </p:sp>
      <p:sp>
        <p:nvSpPr>
          <p:cNvPr id="68" name="Text 60"/>
          <p:cNvSpPr/>
          <p:nvPr/>
        </p:nvSpPr>
        <p:spPr>
          <a:xfrm>
            <a:off x="7726680" y="4791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Accent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94560" cy="82296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RUNS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F2A4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End-to-end operational workflow</a:t>
            </a:r>
            <a:endParaRPr lang="en-US" sz="2700" dirty="0"/>
          </a:p>
        </p:txBody>
      </p:sp>
      <p:sp>
        <p:nvSpPr>
          <p:cNvPr id="6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640080" cy="32004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customer's inquiry email to a sent quotation — with Sales approving at every gate.</a:t>
            </a:r>
            <a:endParaRPr lang="en-US" sz="1100" dirty="0"/>
          </a:p>
        </p:txBody>
      </p:sp>
      <p:sp>
        <p:nvSpPr>
          <p:cNvPr id="8" name="Phas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99616"/>
            <a:ext cx="1481328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27000" dist="25400" dir="5400000" algn="bl" rotWithShape="0">
              <a:srgbClr val="0F2A4D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99616"/>
            <a:ext cx="1481328" cy="45720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649224" y="163677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9224" y="1828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 &amp; Extraction</a:t>
            </a:r>
            <a:endParaRPr lang="en-US" sz="1050" dirty="0"/>
          </a:p>
        </p:txBody>
      </p:sp>
      <p:sp>
        <p:nvSpPr>
          <p:cNvPr id="12" name="Card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" y="2359152"/>
            <a:ext cx="1188720" cy="9144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9224" y="2414016"/>
            <a:ext cx="1243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emails the Sales shared inbox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OpsAgent calls the Extraction Agent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Items, dates and quantities extracted</a:t>
            </a:r>
            <a:endParaRPr lang="en-US" sz="800" dirty="0"/>
          </a:p>
        </p:txBody>
      </p:sp>
      <p:sp>
        <p:nvSpPr>
          <p:cNvPr id="14" name="Flow 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29968" y="2487168"/>
            <a:ext cx="96012" cy="27432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Phas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71700" y="1499616"/>
            <a:ext cx="1481328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27000" dist="25400" dir="5400000" algn="bl" rotWithShape="0">
              <a:srgbClr val="0F2A4D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71700" y="1499616"/>
            <a:ext cx="1481328" cy="45720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2318004" y="163677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18004" y="1828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 &amp; Base Pricing</a:t>
            </a:r>
            <a:endParaRPr lang="en-US" sz="1050" dirty="0"/>
          </a:p>
        </p:txBody>
      </p:sp>
      <p:sp>
        <p:nvSpPr>
          <p:cNvPr id="19" name="Card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18004" y="2359152"/>
            <a:ext cx="1188720" cy="9144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18004" y="2414016"/>
            <a:ext cx="1243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checked for facility availability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pricing generated for available items</a:t>
            </a:r>
            <a:endParaRPr lang="en-US" sz="800" dirty="0"/>
          </a:p>
        </p:txBody>
      </p:sp>
      <p:sp>
        <p:nvSpPr>
          <p:cNvPr id="21" name="Flow 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8748" y="2487168"/>
            <a:ext cx="96012" cy="27432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Phas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1499616"/>
            <a:ext cx="1481328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27000" dist="25400" dir="5400000" algn="bl" rotWithShape="0">
              <a:srgbClr val="0F2A4D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1499616"/>
            <a:ext cx="1481328" cy="45720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3986784" y="163677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800" dirty="0"/>
          </a:p>
        </p:txBody>
      </p:sp>
      <p:sp>
        <p:nvSpPr>
          <p:cNvPr id="25" name="Text 2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86784" y="1828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Pricing Review</a:t>
            </a:r>
            <a:endParaRPr lang="en-US" sz="1050" dirty="0"/>
          </a:p>
        </p:txBody>
      </p:sp>
      <p:sp>
        <p:nvSpPr>
          <p:cNvPr id="26" name="Card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86784" y="2359152"/>
            <a:ext cx="1188720" cy="9144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86784" y="2414016"/>
            <a:ext cx="1243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Review Request sent to Sales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Salesperson accepts or adjusts pricing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Submits it for financial approval</a:t>
            </a:r>
            <a:endParaRPr lang="en-US" sz="800" dirty="0"/>
          </a:p>
        </p:txBody>
      </p:sp>
      <p:sp>
        <p:nvSpPr>
          <p:cNvPr id="28" name="Flow 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7528" y="2487168"/>
            <a:ext cx="96012" cy="27432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Phas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09260" y="1499616"/>
            <a:ext cx="1481328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27000" dist="25400" dir="5400000" algn="bl" rotWithShape="0">
              <a:srgbClr val="0F2A4D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09260" y="1499616"/>
            <a:ext cx="1481328" cy="45720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655564" y="163677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</a:t>
            </a:r>
            <a:endParaRPr lang="en-US" sz="800" dirty="0"/>
          </a:p>
        </p:txBody>
      </p:sp>
      <p:sp>
        <p:nvSpPr>
          <p:cNvPr id="32" name="Text 3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655564" y="1828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Approval</a:t>
            </a:r>
            <a:endParaRPr lang="en-US" sz="1050" dirty="0"/>
          </a:p>
        </p:txBody>
      </p:sp>
      <p:sp>
        <p:nvSpPr>
          <p:cNvPr id="33" name="Card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5564" y="2359152"/>
            <a:ext cx="1188720" cy="9144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5655564" y="2414016"/>
            <a:ext cx="1243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Proposal routed to the Finance approver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approves, rejects or requests changes</a:t>
            </a:r>
            <a:endParaRPr lang="en-US" sz="800" dirty="0"/>
          </a:p>
        </p:txBody>
      </p:sp>
      <p:sp>
        <p:nvSpPr>
          <p:cNvPr id="35" name="Flow 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36308" y="2487168"/>
            <a:ext cx="96012" cy="27432"/>
          </a:xfrm>
          <a:prstGeom prst="rect">
            <a:avLst/>
          </a:prstGeom>
          <a:solidFill>
            <a:srgbClr val="0F2A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Phas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78040" y="1499616"/>
            <a:ext cx="1481328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D"/>
            </a:solidFill>
            <a:prstDash val="solid"/>
          </a:ln>
          <a:effectLst>
            <a:outerShdw blurRad="127000" dist="25400" dir="5400000" algn="bl" rotWithShape="0">
              <a:srgbClr val="0F2A4D">
                <a:alpha val="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78040" y="1499616"/>
            <a:ext cx="1481328" cy="45720"/>
          </a:xfrm>
          <a:prstGeom prst="rect">
            <a:avLst/>
          </a:prstGeom>
          <a:solidFill>
            <a:srgbClr val="0BA5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7324344" y="163677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BA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5</a:t>
            </a:r>
            <a:endParaRPr lang="en-US" sz="800" dirty="0"/>
          </a:p>
        </p:txBody>
      </p:sp>
      <p:sp>
        <p:nvSpPr>
          <p:cNvPr id="39" name="Text 3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324344" y="1828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F2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 &amp; Dispatch</a:t>
            </a:r>
            <a:endParaRPr lang="en-US" sz="1050" dirty="0"/>
          </a:p>
        </p:txBody>
      </p:sp>
      <p:sp>
        <p:nvSpPr>
          <p:cNvPr id="40" name="Card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24344" y="2359152"/>
            <a:ext cx="1188720" cy="9144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" name="Text 39"/>
          <p:cNvSpPr/>
          <p:nvPr/>
        </p:nvSpPr>
        <p:spPr>
          <a:xfrm>
            <a:off x="7324344" y="2414016"/>
            <a:ext cx="1243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 document generated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email with attachment prepared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Salesperson reviews and sends it</a:t>
            </a:r>
            <a:endParaRPr lang="en-US" sz="800" dirty="0"/>
          </a:p>
        </p:txBody>
      </p:sp>
      <p:sp>
        <p:nvSpPr>
          <p:cNvPr id="42" name="Exception 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9504" y="3474720"/>
            <a:ext cx="27432" cy="237744"/>
          </a:xfrm>
          <a:prstGeom prst="rect">
            <a:avLst/>
          </a:prstGeom>
          <a:solidFill>
            <a:srgbClr val="C77A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Exception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12464"/>
            <a:ext cx="3913632" cy="896112"/>
          </a:xfrm>
          <a:prstGeom prst="rect">
            <a:avLst/>
          </a:prstGeom>
          <a:solidFill>
            <a:srgbClr val="FCF5EA"/>
          </a:solidFill>
          <a:ln w="9525">
            <a:solidFill>
              <a:srgbClr val="EFDDC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Excep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12464"/>
            <a:ext cx="45720" cy="896112"/>
          </a:xfrm>
          <a:prstGeom prst="rect">
            <a:avLst/>
          </a:prstGeom>
          <a:solidFill>
            <a:srgbClr val="C77A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Text 43"/>
          <p:cNvSpPr/>
          <p:nvPr/>
        </p:nvSpPr>
        <p:spPr>
          <a:xfrm>
            <a:off x="722376" y="3831336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C77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ITEMS ARE UNAVAILABLE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22376" y="4032504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OpsAgent sends a Review Order Inquiry to the Salesperson, who either edits the requested items — returning the flow to Phase 2 for a fresh check — or has OpsAgent draft an Unavailability Email to review and send, which ends the workflow.</a:t>
            </a:r>
            <a:endParaRPr lang="en-US" sz="850" dirty="0"/>
          </a:p>
        </p:txBody>
      </p:sp>
      <p:sp>
        <p:nvSpPr>
          <p:cNvPr id="47" name="Exception 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7064" y="3474720"/>
            <a:ext cx="27432" cy="237744"/>
          </a:xfrm>
          <a:prstGeom prst="rect">
            <a:avLst/>
          </a:prstGeom>
          <a:solidFill>
            <a:srgbClr val="C77A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Exception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7448" y="3712464"/>
            <a:ext cx="3913632" cy="896112"/>
          </a:xfrm>
          <a:prstGeom prst="rect">
            <a:avLst/>
          </a:prstGeom>
          <a:solidFill>
            <a:srgbClr val="FCF5EA"/>
          </a:solidFill>
          <a:ln w="9525">
            <a:solidFill>
              <a:srgbClr val="EFDDC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9" name="Excep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7448" y="3712464"/>
            <a:ext cx="45720" cy="896112"/>
          </a:xfrm>
          <a:prstGeom prst="rect">
            <a:avLst/>
          </a:prstGeom>
          <a:solidFill>
            <a:srgbClr val="C77A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4946904" y="3831336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C77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FINANCE REJECTS OR REQUESTS CHANGES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46904" y="4032504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proposal routes straight back to Phase 3 so the Salesperson can adjust the pricing and resubmit it for approval.</a:t>
            </a:r>
            <a:endParaRPr lang="en-US" sz="850" dirty="0"/>
          </a:p>
        </p:txBody>
      </p:sp>
      <p:sp>
        <p:nvSpPr>
          <p:cNvPr id="52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DCE4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3" name="Text 51"/>
          <p:cNvSpPr/>
          <p:nvPr/>
        </p:nvSpPr>
        <p:spPr>
          <a:xfrm>
            <a:off x="502920" y="47914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OpsAgent — Agentic AI in a real use case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726680" y="4791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2A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Accent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94560" cy="82296"/>
          </a:xfrm>
          <a:prstGeom prst="rect">
            <a:avLst/>
          </a:prstGeom>
          <a:solidFill>
            <a:srgbClr val="0BA5C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"/>
          <p:cNvSpPr txBox="1"/>
          <p:nvPr/>
        </p:nvSpPr>
        <p:spPr>
          <a:xfrm>
            <a:off x="502920" y="384048"/>
            <a:ext cx="8138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50" b="1" i="0" spc="250" dirty="0">
                <a:solidFill>
                  <a:srgbClr val="0BA5CE"/>
                </a:solidFill>
                <a:latin typeface="Segoe UI"/>
                <a:cs typeface="Segoe UI"/>
              </a:rPr>
              <a:t>WHAT IT RUNS ON</a:t>
            </a:r>
            <a:endParaRPr lang="en-US"/>
          </a:p>
        </p:txBody>
      </p:sp>
      <p:sp>
        <p:nvSpPr>
          <p:cNvPr id="104" name="Text"/>
          <p:cNvSpPr txBox="1"/>
          <p:nvPr/>
        </p:nvSpPr>
        <p:spPr>
          <a:xfrm>
            <a:off x="502920" y="621792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b="0" i="0" dirty="0">
                <a:solidFill>
                  <a:srgbClr val="0F2A4D"/>
                </a:solidFill>
                <a:latin typeface="Segoe UI Light"/>
                <a:cs typeface="Segoe UI Light"/>
              </a:rPr>
              <a:t>High-level technical stack</a:t>
            </a:r>
            <a:endParaRPr lang="en-US"/>
          </a:p>
        </p:txBody>
      </p:sp>
      <p:sp>
        <p:nvSpPr>
          <p:cNvPr id="105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640080" cy="32004"/>
          </a:xfrm>
          <a:prstGeom prst="rect">
            <a:avLst/>
          </a:prstGeom>
          <a:solidFill>
            <a:srgbClr val="0F2A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"/>
          <p:cNvSpPr txBox="1"/>
          <p:nvPr/>
        </p:nvSpPr>
        <p:spPr>
          <a:xfrm>
            <a:off x="502920" y="1243584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b="0" i="0" dirty="0">
                <a:solidFill>
                  <a:srgbClr val="5B6B80"/>
                </a:solidFill>
                <a:latin typeface="Segoe UI"/>
                <a:cs typeface="Segoe UI"/>
              </a:rPr>
              <a:t>A Microsoft-native stack: Copilot Studio orchestrates, Azure AI reasons, and Teams, Outlook and Dataverse carry the work.</a:t>
            </a:r>
            <a:endParaRPr lang="en-US"/>
          </a:p>
        </p:txBody>
      </p:sp>
      <p:sp>
        <p:nvSpPr>
          <p:cNvPr id="107" name="Componen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8138160" cy="516636"/>
          </a:xfrm>
          <a:prstGeom prst="rect">
            <a:avLst/>
          </a:prstGeom>
          <a:solidFill>
            <a:srgbClr val="F4F8FC"/>
          </a:solidFill>
          <a:ln w="9525">
            <a:solidFill>
              <a:srgbClr val="DCE4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Ban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50292" cy="516636"/>
          </a:xfrm>
          <a:prstGeom prst="rect">
            <a:avLst/>
          </a:prstGeom>
          <a:solidFill>
            <a:srgbClr val="0BA5C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"/>
          <p:cNvSpPr txBox="1"/>
          <p:nvPr/>
        </p:nvSpPr>
        <p:spPr>
          <a:xfrm>
            <a:off x="713232" y="1664208"/>
            <a:ext cx="1965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50" b="1" i="0" dirty="0">
                <a:solidFill>
                  <a:srgbClr val="0F2A4D"/>
                </a:solidFill>
                <a:latin typeface="Segoe UI"/>
                <a:cs typeface="Segoe UI"/>
              </a:rPr>
              <a:t>Microsoft Copilot Studio</a:t>
            </a:r>
            <a:endParaRPr lang="en-US"/>
          </a:p>
        </p:txBody>
      </p:sp>
      <p:sp>
        <p:nvSpPr>
          <p:cNvPr id="110" name="Text"/>
          <p:cNvSpPr txBox="1"/>
          <p:nvPr/>
        </p:nvSpPr>
        <p:spPr>
          <a:xfrm>
            <a:off x="713232" y="1892808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750" b="1" i="0" spc="120" dirty="0">
                <a:solidFill>
                  <a:srgbClr val="0BA5CE"/>
                </a:solidFill>
                <a:latin typeface="Segoe UI"/>
                <a:cs typeface="Segoe UI"/>
              </a:rPr>
              <a:t>ORCHESTRATION ENGINE</a:t>
            </a:r>
            <a:endParaRPr lang="en-US"/>
          </a:p>
        </p:txBody>
      </p:sp>
      <p:sp>
        <p:nvSpPr>
          <p:cNvPr id="111" name="Text"/>
          <p:cNvSpPr txBox="1"/>
          <p:nvPr/>
        </p:nvSpPr>
        <p:spPr>
          <a:xfrm>
            <a:off x="2834640" y="1673352"/>
            <a:ext cx="5623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250"/>
              </a:lnSpc>
            </a:pPr>
            <a:r>
              <a:rPr lang="en-US" sz="950" b="0" i="0" dirty="0">
                <a:solidFill>
                  <a:srgbClr val="5B6B80"/>
                </a:solidFill>
                <a:latin typeface="Segoe UI"/>
                <a:cs typeface="Segoe UI"/>
              </a:rPr>
              <a:t>Runs the end-to-end workflow with multi-agent routing (Generative Actions), delegating tasks to the specialised sub-agents and bridging the front-end apps with back-end AI models and data.</a:t>
            </a:r>
            <a:endParaRPr lang="en-US"/>
          </a:p>
        </p:txBody>
      </p:sp>
      <p:sp>
        <p:nvSpPr>
          <p:cNvPr id="112" name="Componen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39696"/>
            <a:ext cx="8138160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Ban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39696"/>
            <a:ext cx="50292" cy="516636"/>
          </a:xfrm>
          <a:prstGeom prst="rect">
            <a:avLst/>
          </a:prstGeom>
          <a:solidFill>
            <a:srgbClr val="0F2A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"/>
          <p:cNvSpPr txBox="1"/>
          <p:nvPr/>
        </p:nvSpPr>
        <p:spPr>
          <a:xfrm>
            <a:off x="713232" y="2231136"/>
            <a:ext cx="1965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50" b="1" i="0" dirty="0">
                <a:solidFill>
                  <a:srgbClr val="0F2A4D"/>
                </a:solidFill>
                <a:latin typeface="Segoe UI"/>
                <a:cs typeface="Segoe UI"/>
              </a:rPr>
              <a:t>Azure AI Foundry</a:t>
            </a:r>
            <a:endParaRPr lang="en-US"/>
          </a:p>
        </p:txBody>
      </p:sp>
      <p:sp>
        <p:nvSpPr>
          <p:cNvPr id="115" name="Text"/>
          <p:cNvSpPr txBox="1"/>
          <p:nvPr/>
        </p:nvSpPr>
        <p:spPr>
          <a:xfrm>
            <a:off x="713232" y="2459736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750" b="1" i="0" spc="120" dirty="0">
                <a:solidFill>
                  <a:srgbClr val="0BA5CE"/>
                </a:solidFill>
                <a:latin typeface="Segoe UI"/>
                <a:cs typeface="Segoe UI"/>
              </a:rPr>
              <a:t>AI MODEL LIBRARY</a:t>
            </a:r>
            <a:endParaRPr lang="en-US"/>
          </a:p>
        </p:txBody>
      </p:sp>
      <p:sp>
        <p:nvSpPr>
          <p:cNvPr id="116" name="Text"/>
          <p:cNvSpPr txBox="1"/>
          <p:nvPr/>
        </p:nvSpPr>
        <p:spPr>
          <a:xfrm>
            <a:off x="2834640" y="2240280"/>
            <a:ext cx="5623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250"/>
              </a:lnSpc>
            </a:pPr>
            <a:r>
              <a:rPr lang="en-US" sz="950" b="0" i="0" dirty="0">
                <a:solidFill>
                  <a:srgbClr val="5B6B80"/>
                </a:solidFill>
                <a:latin typeface="Segoe UI"/>
                <a:cs typeface="Segoe UI"/>
              </a:rPr>
              <a:t>Supplies the enterprise-grade large language models that let the Extraction Agent pull structured details out of unstructured customer emails.</a:t>
            </a:r>
            <a:endParaRPr lang="en-US"/>
          </a:p>
        </p:txBody>
      </p:sp>
      <p:sp>
        <p:nvSpPr>
          <p:cNvPr id="117" name="Componen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06624"/>
            <a:ext cx="8138160" cy="516636"/>
          </a:xfrm>
          <a:prstGeom prst="rect">
            <a:avLst/>
          </a:prstGeom>
          <a:solidFill>
            <a:srgbClr val="F4F8FC"/>
          </a:solidFill>
          <a:ln w="9525">
            <a:solidFill>
              <a:srgbClr val="DCE4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Ban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06624"/>
            <a:ext cx="50292" cy="516636"/>
          </a:xfrm>
          <a:prstGeom prst="rect">
            <a:avLst/>
          </a:prstGeom>
          <a:solidFill>
            <a:srgbClr val="0F2A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"/>
          <p:cNvSpPr txBox="1"/>
          <p:nvPr/>
        </p:nvSpPr>
        <p:spPr>
          <a:xfrm>
            <a:off x="713232" y="2798064"/>
            <a:ext cx="1965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50" b="1" i="0" dirty="0">
                <a:solidFill>
                  <a:srgbClr val="0F2A4D"/>
                </a:solidFill>
                <a:latin typeface="Segoe UI"/>
                <a:cs typeface="Segoe UI"/>
              </a:rPr>
              <a:t>Microsoft Teams</a:t>
            </a:r>
            <a:endParaRPr lang="en-US"/>
          </a:p>
        </p:txBody>
      </p:sp>
      <p:sp>
        <p:nvSpPr>
          <p:cNvPr id="120" name="Text"/>
          <p:cNvSpPr txBox="1"/>
          <p:nvPr/>
        </p:nvSpPr>
        <p:spPr>
          <a:xfrm>
            <a:off x="713232" y="3026664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750" b="1" i="0" spc="120" dirty="0">
                <a:solidFill>
                  <a:srgbClr val="0BA5CE"/>
                </a:solidFill>
                <a:latin typeface="Segoe UI"/>
                <a:cs typeface="Segoe UI"/>
              </a:rPr>
              <a:t>HUMAN-IN-THE-LOOP INTERFACE</a:t>
            </a:r>
            <a:endParaRPr lang="en-US"/>
          </a:p>
        </p:txBody>
      </p:sp>
      <p:sp>
        <p:nvSpPr>
          <p:cNvPr id="121" name="Text"/>
          <p:cNvSpPr txBox="1"/>
          <p:nvPr/>
        </p:nvSpPr>
        <p:spPr>
          <a:xfrm>
            <a:off x="2834640" y="2807208"/>
            <a:ext cx="5623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250"/>
              </a:lnSpc>
            </a:pPr>
            <a:r>
              <a:rPr lang="en-US" sz="950" b="0" i="0" dirty="0">
                <a:solidFill>
                  <a:srgbClr val="5B6B80"/>
                </a:solidFill>
                <a:latin typeface="Segoe UI"/>
                <a:cs typeface="Segoe UI"/>
              </a:rPr>
              <a:t>Adaptive Cards present the information and capture every Sales review and Finance approval, without pushing users into a separate web portal.</a:t>
            </a:r>
            <a:endParaRPr lang="en-US"/>
          </a:p>
        </p:txBody>
      </p:sp>
      <p:sp>
        <p:nvSpPr>
          <p:cNvPr id="122" name="Componen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73552"/>
            <a:ext cx="8138160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Ban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73552"/>
            <a:ext cx="50292" cy="516636"/>
          </a:xfrm>
          <a:prstGeom prst="rect">
            <a:avLst/>
          </a:prstGeom>
          <a:solidFill>
            <a:srgbClr val="0F2A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"/>
          <p:cNvSpPr txBox="1"/>
          <p:nvPr/>
        </p:nvSpPr>
        <p:spPr>
          <a:xfrm>
            <a:off x="713232" y="3364992"/>
            <a:ext cx="1965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50" b="1" i="0" dirty="0">
                <a:solidFill>
                  <a:srgbClr val="0F2A4D"/>
                </a:solidFill>
                <a:latin typeface="Segoe UI"/>
                <a:cs typeface="Segoe UI"/>
              </a:rPr>
              <a:t>Microsoft Outlook</a:t>
            </a:r>
            <a:endParaRPr lang="en-US"/>
          </a:p>
        </p:txBody>
      </p:sp>
      <p:sp>
        <p:nvSpPr>
          <p:cNvPr id="125" name="Text"/>
          <p:cNvSpPr txBox="1"/>
          <p:nvPr/>
        </p:nvSpPr>
        <p:spPr>
          <a:xfrm>
            <a:off x="713232" y="3593592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750" b="1" i="0" spc="120" dirty="0">
                <a:solidFill>
                  <a:srgbClr val="0BA5CE"/>
                </a:solidFill>
                <a:latin typeface="Segoe UI"/>
                <a:cs typeface="Segoe UI"/>
              </a:rPr>
              <a:t>COMMUNICATION HUB</a:t>
            </a:r>
            <a:endParaRPr lang="en-US"/>
          </a:p>
        </p:txBody>
      </p:sp>
      <p:sp>
        <p:nvSpPr>
          <p:cNvPr id="126" name="Text"/>
          <p:cNvSpPr txBox="1"/>
          <p:nvPr/>
        </p:nvSpPr>
        <p:spPr>
          <a:xfrm>
            <a:off x="2834640" y="3374136"/>
            <a:ext cx="5623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250"/>
              </a:lnSpc>
            </a:pPr>
            <a:r>
              <a:rPr lang="en-US" sz="950" b="0" i="0" dirty="0">
                <a:solidFill>
                  <a:srgbClr val="5B6B80"/>
                </a:solidFill>
                <a:latin typeface="Segoe UI"/>
                <a:cs typeface="Segoe UI"/>
              </a:rPr>
              <a:t>Captures inbound customer inquiries through the generic Sales inbox and stages pre-formatted outbound drafts for a final human review.</a:t>
            </a:r>
            <a:endParaRPr lang="en-US"/>
          </a:p>
        </p:txBody>
      </p:sp>
      <p:sp>
        <p:nvSpPr>
          <p:cNvPr id="127" name="Componen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8138160" cy="516636"/>
          </a:xfrm>
          <a:prstGeom prst="rect">
            <a:avLst/>
          </a:prstGeom>
          <a:solidFill>
            <a:srgbClr val="F4F8FC"/>
          </a:solidFill>
          <a:ln w="9525">
            <a:solidFill>
              <a:srgbClr val="DCE4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Ban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50292" cy="516636"/>
          </a:xfrm>
          <a:prstGeom prst="rect">
            <a:avLst/>
          </a:prstGeom>
          <a:solidFill>
            <a:srgbClr val="0F2A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"/>
          <p:cNvSpPr txBox="1"/>
          <p:nvPr/>
        </p:nvSpPr>
        <p:spPr>
          <a:xfrm>
            <a:off x="713232" y="3931920"/>
            <a:ext cx="1965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50" b="1" i="0" dirty="0">
                <a:solidFill>
                  <a:srgbClr val="0F2A4D"/>
                </a:solidFill>
                <a:latin typeface="Segoe UI"/>
                <a:cs typeface="Segoe UI"/>
              </a:rPr>
              <a:t>Microsoft Dataverse</a:t>
            </a:r>
            <a:endParaRPr lang="en-US"/>
          </a:p>
        </p:txBody>
      </p:sp>
      <p:sp>
        <p:nvSpPr>
          <p:cNvPr id="130" name="Text"/>
          <p:cNvSpPr txBox="1"/>
          <p:nvPr/>
        </p:nvSpPr>
        <p:spPr>
          <a:xfrm>
            <a:off x="713232" y="4160520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750" b="1" i="0" spc="120" dirty="0">
                <a:solidFill>
                  <a:srgbClr val="0BA5CE"/>
                </a:solidFill>
                <a:latin typeface="Segoe UI"/>
                <a:cs typeface="Segoe UI"/>
              </a:rPr>
              <a:t>SECURE DATA BACKEND</a:t>
            </a:r>
            <a:endParaRPr lang="en-US"/>
          </a:p>
        </p:txBody>
      </p:sp>
      <p:sp>
        <p:nvSpPr>
          <p:cNvPr id="131" name="Text"/>
          <p:cNvSpPr txBox="1"/>
          <p:nvPr/>
        </p:nvSpPr>
        <p:spPr>
          <a:xfrm>
            <a:off x="2834640" y="3941064"/>
            <a:ext cx="5623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250"/>
              </a:lnSpc>
            </a:pPr>
            <a:r>
              <a:rPr lang="en-US" sz="950" b="0" i="0" dirty="0">
                <a:solidFill>
                  <a:srgbClr val="5B6B80"/>
                </a:solidFill>
                <a:latin typeface="Segoe UI"/>
                <a:cs typeface="Segoe UI"/>
              </a:rPr>
              <a:t>Holds live facility availability and inventory, and enforces corporate pricing rules whenever a quotation is priced.</a:t>
            </a:r>
            <a:endParaRPr lang="en-US"/>
          </a:p>
        </p:txBody>
      </p:sp>
      <p:sp>
        <p:nvSpPr>
          <p:cNvPr id="132" name="Text"/>
          <p:cNvSpPr txBox="1"/>
          <p:nvPr/>
        </p:nvSpPr>
        <p:spPr>
          <a:xfrm>
            <a:off x="502920" y="4443984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b="0" i="1" dirty="0">
                <a:solidFill>
                  <a:srgbClr val="1B4470"/>
                </a:solidFill>
                <a:latin typeface="Segoe UI"/>
                <a:cs typeface="Segoe UI"/>
              </a:rPr>
              <a:t>Every component is standard Microsoft 365 or Azure — no new portal for the Sales team to learn.</a:t>
            </a:r>
            <a:endParaRPr lang="en-US"/>
          </a:p>
        </p:txBody>
      </p:sp>
      <p:sp>
        <p:nvSpPr>
          <p:cNvPr id="13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"/>
          <p:cNvSpPr txBox="1"/>
          <p:nvPr/>
        </p:nvSpPr>
        <p:spPr>
          <a:xfrm>
            <a:off x="502920" y="4791456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 b="0" i="0" dirty="0">
                <a:solidFill>
                  <a:srgbClr val="5B6B80"/>
                </a:solidFill>
                <a:latin typeface="Segoe UI"/>
                <a:cs typeface="Segoe UI"/>
              </a:rPr>
              <a:t>OpsAgent — Agentic AI in a real use case</a:t>
            </a:r>
            <a:endParaRPr lang="en-US"/>
          </a:p>
        </p:txBody>
      </p:sp>
      <p:sp>
        <p:nvSpPr>
          <p:cNvPr id="135" name="Text"/>
          <p:cNvSpPr txBox="1"/>
          <p:nvPr/>
        </p:nvSpPr>
        <p:spPr>
          <a:xfrm>
            <a:off x="7726680" y="47914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b="0" i="0" dirty="0">
                <a:solidFill>
                  <a:srgbClr val="5B6B80"/>
                </a:solidFill>
                <a:latin typeface="Segoe UI"/>
                <a:cs typeface="Segoe UI"/>
              </a:rPr>
              <a:t>4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561</Words>
  <Application>Microsoft Office PowerPoint</Application>
  <PresentationFormat>On-screen Show (16:9)</PresentationFormat>
  <Paragraphs>96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Chow, Raymond</dc:creator>
  <cp:lastModifiedBy>Chow, Raymond</cp:lastModifiedBy>
  <cp:revision>2</cp:revision>
  <dcterms:created xsi:type="dcterms:W3CDTF">2026-08-26T09:09:29Z</dcterms:created>
  <dcterms:modified xsi:type="dcterms:W3CDTF">2026-08-27T01:55:13Z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2026-08-26T09:48:12Z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1f3f9d61-e763-4e33-b8eb-e95c97f9f2ff</vt:lpwstr>
  </property>
  <property fmtid="{D5CDD505-2E9C-101B-9397-08002B2CF9AE}" pid="7" name="MSIP_Label_defa4170-0d19-0005-0004-bc88714345d2_ActionId">
    <vt:lpwstr>3b319e17-3f4f-4f16-a3c2-04c8aed43f2f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